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8" r:id="rId6"/>
    <p:sldId id="282" r:id="rId7"/>
    <p:sldId id="266" r:id="rId8"/>
    <p:sldId id="283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250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3sod\Documents\employee_engagement_analysis\analysis\&#1050;&#1085;&#1080;&#1075;&#1072;1%20(version%201).xlsb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3sod\Documents\employee_engagement_analysis\analysis\&#1050;&#1085;&#1080;&#1075;&#1072;1%20(version%201).xlsb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3sod\Documents\employee_engagement_analysis\analysis\&#1050;&#1085;&#1080;&#1075;&#1072;1%20(version%201).xlsb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3sod\Documents\employee_engagement_analysis\analysis\&#1050;&#1085;&#1080;&#1075;&#1072;1%20(version%201).xlsb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[Книга1 (version 1).xlsb.xlsx]Анализ!PivotTable6</c:name>
    <c:fmtId val="15"/>
  </c:pivotSource>
  <c:chart>
    <c:autoTitleDeleted val="1"/>
    <c:pivotFmts>
      <c:pivotFmt>
        <c:idx val="0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Анализ!$C$37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dk1">
                  <a:tint val="885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Анализ!$B$38:$B$43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Анализ!$C$38:$C$43</c:f>
              <c:numCache>
                <c:formatCode>General</c:formatCode>
                <c:ptCount val="5"/>
                <c:pt idx="0">
                  <c:v>3.8181818181818183</c:v>
                </c:pt>
                <c:pt idx="1">
                  <c:v>3.4117647058823528</c:v>
                </c:pt>
                <c:pt idx="2">
                  <c:v>3.18</c:v>
                </c:pt>
                <c:pt idx="3">
                  <c:v>2.4743589743589745</c:v>
                </c:pt>
                <c:pt idx="4">
                  <c:v>2.3333333333333335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6F-4AA9-9B43-6E5FFB3C67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56535391"/>
        <c:axId val="1626978447"/>
      </c:lineChart>
      <c:catAx>
        <c:axId val="1956535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6978447"/>
        <c:crosses val="autoZero"/>
        <c:auto val="1"/>
        <c:lblAlgn val="ctr"/>
        <c:lblOffset val="100"/>
        <c:noMultiLvlLbl val="0"/>
      </c:catAx>
      <c:valAx>
        <c:axId val="1626978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535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[Книга1 (version 1).xlsb.xlsx]Анализ!PivotTable7</c:name>
    <c:fmtId val="6"/>
  </c:pivotSource>
  <c:chart>
    <c:autoTitleDeleted val="1"/>
    <c:pivotFmts>
      <c:pivotFmt>
        <c:idx val="0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Анализ!$C$46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dk1">
                  <a:tint val="885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Анализ!$B$47:$B$52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Анализ!$C$47:$C$52</c:f>
              <c:numCache>
                <c:formatCode>General</c:formatCode>
                <c:ptCount val="5"/>
                <c:pt idx="0">
                  <c:v>4.333333333333333</c:v>
                </c:pt>
                <c:pt idx="1">
                  <c:v>3.7777777777777777</c:v>
                </c:pt>
                <c:pt idx="2">
                  <c:v>3.3703703703703702</c:v>
                </c:pt>
                <c:pt idx="3">
                  <c:v>2.8904109589041096</c:v>
                </c:pt>
                <c:pt idx="4">
                  <c:v>2.5319148936170213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B0-4CEE-971B-71C4FBBF9B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56362783"/>
        <c:axId val="1626962607"/>
      </c:lineChart>
      <c:catAx>
        <c:axId val="1956362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6962607"/>
        <c:crosses val="autoZero"/>
        <c:auto val="1"/>
        <c:lblAlgn val="ctr"/>
        <c:lblOffset val="100"/>
        <c:noMultiLvlLbl val="0"/>
      </c:catAx>
      <c:valAx>
        <c:axId val="1626962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3627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[Книга1 (version 1).xlsb.xlsx]Анализ!PivotTable8</c:name>
    <c:fmtId val="10"/>
  </c:pivotSource>
  <c:chart>
    <c:autoTitleDeleted val="1"/>
    <c:pivotFmts>
      <c:pivotFmt>
        <c:idx val="0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Анализ!$C$54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dk1">
                  <a:tint val="885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Анализ!$B$55:$B$60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Анализ!$C$55:$C$60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2.3333333333333335</c:v>
                </c:pt>
                <c:pt idx="3">
                  <c:v>3.3013698630136985</c:v>
                </c:pt>
                <c:pt idx="4">
                  <c:v>4.0531914893617023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34-49E2-8B14-510610706D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56417999"/>
        <c:axId val="1511703983"/>
      </c:lineChart>
      <c:catAx>
        <c:axId val="1956417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1703983"/>
        <c:crosses val="autoZero"/>
        <c:auto val="1"/>
        <c:lblAlgn val="ctr"/>
        <c:lblOffset val="100"/>
        <c:noMultiLvlLbl val="0"/>
      </c:catAx>
      <c:valAx>
        <c:axId val="1511703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4179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[Книга1 (version 1).xlsb.xlsx]Анализ!PivotTable6</c:name>
    <c:fmtId val="20"/>
  </c:pivotSource>
  <c:chart>
    <c:autoTitleDeleted val="1"/>
    <c:pivotFmts>
      <c:pivotFmt>
        <c:idx val="0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Анализ!$C$37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Анализ!$B$38:$B$43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Анализ!$C$38:$C$43</c:f>
              <c:numCache>
                <c:formatCode>General</c:formatCode>
                <c:ptCount val="5"/>
                <c:pt idx="0">
                  <c:v>3.8181818181818183</c:v>
                </c:pt>
                <c:pt idx="1">
                  <c:v>3.4117647058823528</c:v>
                </c:pt>
                <c:pt idx="2">
                  <c:v>3.18</c:v>
                </c:pt>
                <c:pt idx="3">
                  <c:v>2.4743589743589745</c:v>
                </c:pt>
                <c:pt idx="4">
                  <c:v>2.3333333333333335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16-47D2-A75F-553205C7C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161919"/>
        <c:axId val="1446005679"/>
      </c:barChart>
      <c:catAx>
        <c:axId val="12916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6005679"/>
        <c:crosses val="autoZero"/>
        <c:auto val="1"/>
        <c:lblAlgn val="ctr"/>
        <c:lblOffset val="100"/>
        <c:noMultiLvlLbl val="0"/>
      </c:catAx>
      <c:valAx>
        <c:axId val="1446005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161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7/11/2026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7/11/2026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1919" y="1737360"/>
            <a:ext cx="4256562" cy="1432560"/>
          </a:xfrm>
        </p:spPr>
        <p:txBody>
          <a:bodyPr anchor="ctr"/>
          <a:lstStyle/>
          <a:p>
            <a:r>
              <a:rPr lang="en-US" sz="2400" dirty="0" err="1"/>
              <a:t>Анализ</a:t>
            </a:r>
            <a:r>
              <a:rPr lang="en-US" sz="2400" dirty="0"/>
              <a:t> </a:t>
            </a:r>
            <a:r>
              <a:rPr lang="en-US" sz="2400" dirty="0" err="1"/>
              <a:t>результатов</a:t>
            </a:r>
            <a:r>
              <a:rPr lang="en-US" sz="2400" dirty="0"/>
              <a:t> </a:t>
            </a:r>
            <a:r>
              <a:rPr lang="en-US" sz="2400" dirty="0" err="1"/>
              <a:t>опроса</a:t>
            </a:r>
            <a:r>
              <a:rPr lang="en-US" sz="2400" dirty="0"/>
              <a:t> </a:t>
            </a:r>
            <a:r>
              <a:rPr lang="en-US" sz="2400" dirty="0" err="1"/>
              <a:t>сотрудников</a:t>
            </a:r>
            <a:r>
              <a:rPr lang="en-US" sz="2400" dirty="0"/>
              <a:t> </a:t>
            </a:r>
            <a:r>
              <a:rPr lang="en-US" sz="2400" dirty="0" err="1"/>
              <a:t>компании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BD32D-266B-DE03-75A0-6B796998E48F}"/>
              </a:ext>
            </a:extLst>
          </p:cNvPr>
          <p:cNvSpPr txBox="1"/>
          <p:nvPr/>
        </p:nvSpPr>
        <p:spPr>
          <a:xfrm>
            <a:off x="7711919" y="3244334"/>
            <a:ext cx="3921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Разведочный</a:t>
            </a:r>
            <a:r>
              <a:rPr lang="en-US" dirty="0"/>
              <a:t> </a:t>
            </a:r>
            <a:r>
              <a:rPr lang="en-US" dirty="0" err="1"/>
              <a:t>анализ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(EDA)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B74557-3826-CB64-415C-03A910A11D1A}"/>
              </a:ext>
            </a:extLst>
          </p:cNvPr>
          <p:cNvSpPr txBox="1"/>
          <p:nvPr/>
        </p:nvSpPr>
        <p:spPr>
          <a:xfrm>
            <a:off x="294640" y="5644495"/>
            <a:ext cx="4003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Microsoft Excel • Pivot Tables • Dashboard • </a:t>
            </a:r>
            <a:r>
              <a:rPr lang="en-US" dirty="0" err="1"/>
              <a:t>Описательная</a:t>
            </a:r>
            <a:r>
              <a:rPr lang="en-US" dirty="0"/>
              <a:t> </a:t>
            </a:r>
            <a:r>
              <a:rPr lang="en-US" dirty="0" err="1"/>
              <a:t>статистика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FF6EC3-35BB-DCCB-230A-7EEB03044B21}"/>
              </a:ext>
            </a:extLst>
          </p:cNvPr>
          <p:cNvSpPr txBox="1"/>
          <p:nvPr/>
        </p:nvSpPr>
        <p:spPr>
          <a:xfrm>
            <a:off x="8138160" y="5921494"/>
            <a:ext cx="418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206 </a:t>
            </a:r>
            <a:r>
              <a:rPr lang="en-US" dirty="0" err="1"/>
              <a:t>сотрудников</a:t>
            </a:r>
            <a:r>
              <a:rPr lang="en-US" dirty="0"/>
              <a:t> • 40 </a:t>
            </a:r>
            <a:r>
              <a:rPr lang="en-US" dirty="0" err="1"/>
              <a:t>признаков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198" y="86494"/>
            <a:ext cx="4316482" cy="601377"/>
          </a:xfrm>
        </p:spPr>
        <p:txBody>
          <a:bodyPr/>
          <a:lstStyle/>
          <a:p>
            <a:r>
              <a:rPr lang="ru-RU" dirty="0"/>
              <a:t>Описание датасета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701C82-66B4-42D5-0169-521CD7F06664}"/>
              </a:ext>
            </a:extLst>
          </p:cNvPr>
          <p:cNvSpPr txBox="1"/>
          <p:nvPr/>
        </p:nvSpPr>
        <p:spPr>
          <a:xfrm>
            <a:off x="490220" y="1001037"/>
            <a:ext cx="61010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Источник</a:t>
            </a:r>
            <a:endParaRPr lang="en-US" b="1" dirty="0"/>
          </a:p>
          <a:p>
            <a:pPr>
              <a:buNone/>
            </a:pP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dirty="0" err="1"/>
              <a:t>внутреннего</a:t>
            </a:r>
            <a:r>
              <a:rPr lang="en-US" dirty="0"/>
              <a:t> </a:t>
            </a:r>
            <a:r>
              <a:rPr lang="en-US" dirty="0" err="1"/>
              <a:t>опроса</a:t>
            </a:r>
            <a:r>
              <a:rPr lang="en-US" dirty="0"/>
              <a:t> </a:t>
            </a:r>
            <a:r>
              <a:rPr lang="en-US" dirty="0" err="1"/>
              <a:t>сотрудников</a:t>
            </a:r>
            <a:r>
              <a:rPr lang="en-US" dirty="0"/>
              <a:t> </a:t>
            </a:r>
            <a:r>
              <a:rPr lang="en-US" dirty="0" err="1"/>
              <a:t>компании</a:t>
            </a:r>
            <a:r>
              <a:rPr lang="ru-RU" dirty="0"/>
              <a:t> на </a:t>
            </a:r>
            <a:r>
              <a:rPr lang="en-US" dirty="0"/>
              <a:t>Kaggle</a:t>
            </a:r>
            <a:endParaRPr lang="ru-RU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err="1"/>
              <a:t>Объем</a:t>
            </a:r>
            <a:r>
              <a:rPr lang="en-US" b="1" dirty="0"/>
              <a:t> </a:t>
            </a:r>
            <a:r>
              <a:rPr lang="en-US" b="1" dirty="0" err="1"/>
              <a:t>данных</a:t>
            </a:r>
            <a:endParaRPr lang="en-US" b="1" dirty="0"/>
          </a:p>
          <a:p>
            <a:r>
              <a:rPr lang="en-US" dirty="0"/>
              <a:t>206 </a:t>
            </a:r>
            <a:r>
              <a:rPr lang="en-US" dirty="0" err="1"/>
              <a:t>наблюдений</a:t>
            </a:r>
            <a:r>
              <a:rPr lang="en-US" dirty="0"/>
              <a:t> </a:t>
            </a:r>
          </a:p>
          <a:p>
            <a:r>
              <a:rPr lang="en-US" dirty="0"/>
              <a:t>40 </a:t>
            </a:r>
            <a:r>
              <a:rPr lang="en-US" dirty="0" err="1"/>
              <a:t>признаков</a:t>
            </a:r>
            <a:r>
              <a:rPr lang="en-US" dirty="0"/>
              <a:t> 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 err="1"/>
              <a:t>Единица</a:t>
            </a:r>
            <a:r>
              <a:rPr lang="en-US" b="1" dirty="0"/>
              <a:t> </a:t>
            </a:r>
            <a:r>
              <a:rPr lang="en-US" b="1" dirty="0" err="1"/>
              <a:t>наблюдения</a:t>
            </a:r>
            <a:endParaRPr lang="en-US" b="1" dirty="0"/>
          </a:p>
          <a:p>
            <a:pPr>
              <a:buNone/>
            </a:pP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сотрудник</a:t>
            </a:r>
            <a:r>
              <a:rPr lang="en-US" dirty="0"/>
              <a:t> </a:t>
            </a:r>
            <a:r>
              <a:rPr lang="en-US" dirty="0" err="1"/>
              <a:t>компании</a:t>
            </a:r>
            <a:endParaRPr lang="ru-RU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err="1"/>
              <a:t>Использованные</a:t>
            </a:r>
            <a:r>
              <a:rPr lang="en-US" b="1" dirty="0"/>
              <a:t> </a:t>
            </a:r>
            <a:r>
              <a:rPr lang="en-US" b="1" dirty="0" err="1"/>
              <a:t>признаки</a:t>
            </a:r>
            <a:endParaRPr lang="en-US" b="1" dirty="0"/>
          </a:p>
          <a:p>
            <a:r>
              <a:rPr lang="en-US" dirty="0" err="1"/>
              <a:t>подразделение</a:t>
            </a:r>
            <a:r>
              <a:rPr lang="en-US" dirty="0"/>
              <a:t>; </a:t>
            </a:r>
          </a:p>
          <a:p>
            <a:r>
              <a:rPr lang="en-US" dirty="0" err="1"/>
              <a:t>ответы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шкале</a:t>
            </a:r>
            <a:r>
              <a:rPr lang="en-US" dirty="0"/>
              <a:t> </a:t>
            </a:r>
            <a:r>
              <a:rPr lang="en-US" dirty="0" err="1"/>
              <a:t>Лайкерта</a:t>
            </a:r>
            <a:r>
              <a:rPr lang="en-US" dirty="0"/>
              <a:t> (1–5); </a:t>
            </a:r>
          </a:p>
          <a:p>
            <a:r>
              <a:rPr lang="en-US" dirty="0" err="1"/>
              <a:t>вопросы</a:t>
            </a:r>
            <a:r>
              <a:rPr lang="en-US" dirty="0"/>
              <a:t> о </a:t>
            </a:r>
            <a:r>
              <a:rPr lang="en-US" dirty="0" err="1"/>
              <a:t>рабочей</a:t>
            </a:r>
            <a:r>
              <a:rPr lang="en-US" dirty="0"/>
              <a:t> </a:t>
            </a:r>
            <a:r>
              <a:rPr lang="en-US" dirty="0" err="1"/>
              <a:t>среде</a:t>
            </a:r>
            <a:r>
              <a:rPr lang="en-US" dirty="0"/>
              <a:t>; </a:t>
            </a:r>
          </a:p>
          <a:p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хобби</a:t>
            </a:r>
            <a:r>
              <a:rPr lang="en-US" dirty="0"/>
              <a:t>; </a:t>
            </a:r>
          </a:p>
          <a:p>
            <a:r>
              <a:rPr lang="en-US" dirty="0" err="1"/>
              <a:t>выгорании</a:t>
            </a:r>
            <a:r>
              <a:rPr lang="en-US" dirty="0"/>
              <a:t>; </a:t>
            </a:r>
          </a:p>
          <a:p>
            <a:r>
              <a:rPr lang="en-US" dirty="0" err="1"/>
              <a:t>командной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; </a:t>
            </a:r>
          </a:p>
          <a:p>
            <a:r>
              <a:rPr lang="en-US" dirty="0" err="1"/>
              <a:t>удовлетворённости</a:t>
            </a:r>
            <a:r>
              <a:rPr lang="en-US" dirty="0"/>
              <a:t> </a:t>
            </a:r>
            <a:r>
              <a:rPr lang="en-US" dirty="0" err="1"/>
              <a:t>условиями</a:t>
            </a:r>
            <a:r>
              <a:rPr lang="en-US" dirty="0"/>
              <a:t> </a:t>
            </a:r>
            <a:r>
              <a:rPr lang="en-US" dirty="0" err="1"/>
              <a:t>труда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A2E63D-EEDB-8FC6-7B89-D21865674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805" y="1611754"/>
            <a:ext cx="5090160" cy="27062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922088-CFE8-355E-C4D1-A602B5CF5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085" y="4423778"/>
            <a:ext cx="6786880" cy="231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" y="570068"/>
            <a:ext cx="4277360" cy="815661"/>
          </a:xfrm>
        </p:spPr>
        <p:txBody>
          <a:bodyPr/>
          <a:lstStyle/>
          <a:p>
            <a:r>
              <a:rPr lang="en-US" dirty="0" err="1"/>
              <a:t>Цель</a:t>
            </a:r>
            <a:r>
              <a:rPr lang="en-US" dirty="0"/>
              <a:t> </a:t>
            </a:r>
            <a:r>
              <a:rPr lang="en-US" dirty="0" err="1"/>
              <a:t>исследования</a:t>
            </a: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73D67-B297-7D54-5C8A-52CC4407DEE2}"/>
              </a:ext>
            </a:extLst>
          </p:cNvPr>
          <p:cNvSpPr txBox="1"/>
          <p:nvPr/>
        </p:nvSpPr>
        <p:spPr>
          <a:xfrm>
            <a:off x="477521" y="1477169"/>
            <a:ext cx="10789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Исследовать</a:t>
            </a:r>
            <a:r>
              <a:rPr lang="en-US" dirty="0"/>
              <a:t> </a:t>
            </a:r>
            <a:r>
              <a:rPr lang="en-US" dirty="0" err="1"/>
              <a:t>различия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подразделениями</a:t>
            </a:r>
            <a:r>
              <a:rPr lang="en-US" dirty="0"/>
              <a:t> </a:t>
            </a:r>
            <a:r>
              <a:rPr lang="en-US" dirty="0" err="1"/>
              <a:t>компании</a:t>
            </a:r>
            <a:r>
              <a:rPr lang="en-US" dirty="0"/>
              <a:t> и </a:t>
            </a:r>
            <a:r>
              <a:rPr lang="en-US" dirty="0" err="1"/>
              <a:t>выявить</a:t>
            </a:r>
            <a:r>
              <a:rPr lang="en-US" dirty="0"/>
              <a:t> </a:t>
            </a:r>
            <a:r>
              <a:rPr lang="en-US" dirty="0" err="1"/>
              <a:t>факторы</a:t>
            </a:r>
            <a:r>
              <a:rPr lang="en-US" dirty="0"/>
              <a:t>, </a:t>
            </a:r>
            <a:r>
              <a:rPr lang="en-US" dirty="0" err="1"/>
              <a:t>связанные</a:t>
            </a:r>
            <a:r>
              <a:rPr lang="en-US" dirty="0"/>
              <a:t> с </a:t>
            </a:r>
            <a:r>
              <a:rPr lang="en-US" dirty="0" err="1"/>
              <a:t>уровнем</a:t>
            </a:r>
            <a:r>
              <a:rPr lang="en-US" dirty="0"/>
              <a:t> </a:t>
            </a:r>
            <a:r>
              <a:rPr lang="en-US" dirty="0" err="1"/>
              <a:t>удовлетворенности</a:t>
            </a:r>
            <a:r>
              <a:rPr lang="en-US" dirty="0"/>
              <a:t> </a:t>
            </a:r>
            <a:r>
              <a:rPr lang="en-US" dirty="0" err="1"/>
              <a:t>сотрудников</a:t>
            </a:r>
            <a:r>
              <a:rPr lang="en-US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A8DE7A-7596-3C9C-69B2-DED2F2350F2E}"/>
              </a:ext>
            </a:extLst>
          </p:cNvPr>
          <p:cNvSpPr txBox="1"/>
          <p:nvPr/>
        </p:nvSpPr>
        <p:spPr>
          <a:xfrm>
            <a:off x="916940" y="2947263"/>
            <a:ext cx="61010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Исследовательские</a:t>
            </a:r>
            <a:r>
              <a:rPr lang="en-US" b="1" dirty="0"/>
              <a:t> </a:t>
            </a:r>
            <a:r>
              <a:rPr lang="en-US" b="1" dirty="0" err="1"/>
              <a:t>вопросы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подразделения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хобби</a:t>
            </a:r>
            <a:r>
              <a:rPr lang="en-US" dirty="0"/>
              <a:t>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Связано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с </a:t>
            </a:r>
            <a:r>
              <a:rPr lang="en-US" dirty="0" err="1"/>
              <a:t>уровнем</a:t>
            </a:r>
            <a:r>
              <a:rPr lang="en-US" dirty="0"/>
              <a:t> </a:t>
            </a:r>
            <a:r>
              <a:rPr lang="en-US" dirty="0" err="1"/>
              <a:t>выгорания</a:t>
            </a:r>
            <a:r>
              <a:rPr lang="en-US" dirty="0"/>
              <a:t>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различаются</a:t>
            </a:r>
            <a:r>
              <a:rPr lang="en-US" dirty="0"/>
              <a:t> </a:t>
            </a:r>
            <a:r>
              <a:rPr lang="en-US" dirty="0" err="1"/>
              <a:t>подразделения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показателям</a:t>
            </a:r>
            <a:r>
              <a:rPr lang="en-US" dirty="0"/>
              <a:t>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обнаружить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сравнении</a:t>
            </a:r>
            <a:r>
              <a:rPr lang="en-US" dirty="0"/>
              <a:t> </a:t>
            </a:r>
            <a:r>
              <a:rPr lang="en-US" dirty="0" err="1"/>
              <a:t>отделов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202" y="215887"/>
            <a:ext cx="4751596" cy="602456"/>
          </a:xfrm>
        </p:spPr>
        <p:txBody>
          <a:bodyPr/>
          <a:lstStyle/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945745" y="-1208231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E49E1CE-04DB-4D71-AAA9-F6FB81A466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2489927"/>
              </p:ext>
            </p:extLst>
          </p:nvPr>
        </p:nvGraphicFramePr>
        <p:xfrm>
          <a:off x="7919117" y="969672"/>
          <a:ext cx="3441785" cy="1933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F3D08D9-DBDD-F978-6FCF-D75603E184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9902"/>
              </p:ext>
            </p:extLst>
          </p:nvPr>
        </p:nvGraphicFramePr>
        <p:xfrm>
          <a:off x="7887168" y="3133461"/>
          <a:ext cx="3639586" cy="1754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85593AB-699F-2566-F86C-96FBFEB9057F}"/>
              </a:ext>
            </a:extLst>
          </p:cNvPr>
          <p:cNvSpPr txBox="1"/>
          <p:nvPr/>
        </p:nvSpPr>
        <p:spPr>
          <a:xfrm>
            <a:off x="831098" y="1363128"/>
            <a:ext cx="55725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хобби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ниже</a:t>
            </a:r>
            <a:r>
              <a:rPr lang="en-US" dirty="0"/>
              <a:t> </a:t>
            </a:r>
            <a:r>
              <a:rPr lang="en-US" dirty="0" err="1"/>
              <a:t>ощущение</a:t>
            </a:r>
            <a:r>
              <a:rPr lang="en-US" dirty="0"/>
              <a:t> </a:t>
            </a:r>
            <a:r>
              <a:rPr lang="en-US" dirty="0" err="1"/>
              <a:t>риска</a:t>
            </a:r>
            <a:r>
              <a:rPr lang="en-US" dirty="0"/>
              <a:t> </a:t>
            </a:r>
            <a:r>
              <a:rPr lang="en-US" dirty="0" err="1"/>
              <a:t>выгорания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83DE91-8DF9-FAFC-FC57-DB95AF73CBF1}"/>
              </a:ext>
            </a:extLst>
          </p:cNvPr>
          <p:cNvSpPr txBox="1"/>
          <p:nvPr/>
        </p:nvSpPr>
        <p:spPr>
          <a:xfrm>
            <a:off x="831098" y="3429000"/>
            <a:ext cx="4839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Комфортное</a:t>
            </a:r>
            <a:r>
              <a:rPr lang="en-US" dirty="0"/>
              <a:t> </a:t>
            </a:r>
            <a:r>
              <a:rPr lang="en-US" dirty="0" err="1"/>
              <a:t>рабочее</a:t>
            </a:r>
            <a:r>
              <a:rPr lang="en-US" dirty="0"/>
              <a:t> </a:t>
            </a:r>
            <a:r>
              <a:rPr lang="en-US" dirty="0" err="1"/>
              <a:t>расписание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меньшим</a:t>
            </a:r>
            <a:r>
              <a:rPr lang="en-US" dirty="0"/>
              <a:t> </a:t>
            </a:r>
            <a:r>
              <a:rPr lang="en-US" dirty="0" err="1"/>
              <a:t>риском</a:t>
            </a:r>
            <a:r>
              <a:rPr lang="en-US" dirty="0"/>
              <a:t> </a:t>
            </a:r>
            <a:r>
              <a:rPr lang="en-US" dirty="0" err="1"/>
              <a:t>выгорания</a:t>
            </a:r>
            <a:r>
              <a:rPr lang="en-US" dirty="0"/>
              <a:t>.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EB748FA-1AC1-3384-F31E-73B2F8B647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5996833"/>
              </p:ext>
            </p:extLst>
          </p:nvPr>
        </p:nvGraphicFramePr>
        <p:xfrm>
          <a:off x="7887168" y="4887787"/>
          <a:ext cx="3639586" cy="1754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2F953CA-2889-808C-074B-24DAAE000331}"/>
              </a:ext>
            </a:extLst>
          </p:cNvPr>
          <p:cNvSpPr txBox="1"/>
          <p:nvPr/>
        </p:nvSpPr>
        <p:spPr>
          <a:xfrm>
            <a:off x="831098" y="5441784"/>
            <a:ext cx="53427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Комфортное</a:t>
            </a:r>
            <a:r>
              <a:rPr lang="en-US" dirty="0"/>
              <a:t> </a:t>
            </a:r>
            <a:r>
              <a:rPr lang="en-US" dirty="0" err="1"/>
              <a:t>расписание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21" y="51435"/>
            <a:ext cx="3865880" cy="36639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гипотезы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C706985-C519-5C53-E68A-325C9C0C53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4148676"/>
              </p:ext>
            </p:extLst>
          </p:nvPr>
        </p:nvGraphicFramePr>
        <p:xfrm>
          <a:off x="6096000" y="1548944"/>
          <a:ext cx="5791200" cy="3449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2EB9DC2-B064-B664-C834-D8C08A8480CF}"/>
              </a:ext>
            </a:extLst>
          </p:cNvPr>
          <p:cNvSpPr txBox="1"/>
          <p:nvPr/>
        </p:nvSpPr>
        <p:spPr>
          <a:xfrm>
            <a:off x="0" y="173155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Гипотеза</a:t>
            </a:r>
            <a:endParaRPr lang="en-US" b="1" dirty="0"/>
          </a:p>
          <a:p>
            <a:pPr>
              <a:buNone/>
            </a:pPr>
            <a:r>
              <a:rPr lang="en-US" dirty="0" err="1"/>
              <a:t>Предполагалось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сотрудники</a:t>
            </a:r>
            <a:r>
              <a:rPr lang="en-US" dirty="0"/>
              <a:t>, </a:t>
            </a:r>
            <a:r>
              <a:rPr lang="en-US" dirty="0" err="1"/>
              <a:t>имеющие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хобби</a:t>
            </a:r>
            <a:r>
              <a:rPr lang="en-US" dirty="0"/>
              <a:t>,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реже</a:t>
            </a:r>
            <a:r>
              <a:rPr lang="en-US" dirty="0"/>
              <a:t> </a:t>
            </a:r>
            <a:r>
              <a:rPr lang="en-US" dirty="0" err="1"/>
              <a:t>сообщать</a:t>
            </a:r>
            <a:r>
              <a:rPr lang="en-US" dirty="0"/>
              <a:t> о </a:t>
            </a:r>
            <a:r>
              <a:rPr lang="en-US" dirty="0" err="1"/>
              <a:t>признаках</a:t>
            </a:r>
            <a:r>
              <a:rPr lang="en-US" dirty="0"/>
              <a:t> </a:t>
            </a:r>
            <a:r>
              <a:rPr lang="en-US" dirty="0" err="1"/>
              <a:t>эмоционального</a:t>
            </a:r>
            <a:r>
              <a:rPr lang="en-US" dirty="0"/>
              <a:t> </a:t>
            </a:r>
            <a:r>
              <a:rPr lang="en-US" dirty="0" err="1"/>
              <a:t>выгорания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B5B582-7F29-AB04-31F5-4E51099A30D2}"/>
              </a:ext>
            </a:extLst>
          </p:cNvPr>
          <p:cNvSpPr txBox="1"/>
          <p:nvPr/>
        </p:nvSpPr>
        <p:spPr>
          <a:xfrm>
            <a:off x="0" y="3462833"/>
            <a:ext cx="6121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Результат</a:t>
            </a:r>
            <a:endParaRPr lang="en-US" b="1" dirty="0"/>
          </a:p>
          <a:p>
            <a:pPr>
              <a:buNone/>
            </a:pPr>
            <a:r>
              <a:rPr lang="en-US" dirty="0" err="1"/>
              <a:t>Полученные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подтвердили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отрицательной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и </a:t>
            </a:r>
            <a:r>
              <a:rPr lang="en-US" dirty="0" err="1"/>
              <a:t>уровнем</a:t>
            </a:r>
            <a:r>
              <a:rPr lang="en-US" dirty="0"/>
              <a:t> </a:t>
            </a:r>
            <a:r>
              <a:rPr lang="en-US" dirty="0" err="1"/>
              <a:t>выгорания</a:t>
            </a:r>
            <a:r>
              <a:rPr lang="en-US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78640A-9575-2371-9AFF-CDAF7E250D45}"/>
              </a:ext>
            </a:extLst>
          </p:cNvPr>
          <p:cNvSpPr txBox="1"/>
          <p:nvPr/>
        </p:nvSpPr>
        <p:spPr>
          <a:xfrm>
            <a:off x="3233420" y="5650776"/>
            <a:ext cx="612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*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анализ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о </a:t>
            </a:r>
            <a:r>
              <a:rPr lang="en-US" dirty="0" err="1"/>
              <a:t>причинно-следственной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4700" y="352697"/>
            <a:ext cx="8102600" cy="503456"/>
          </a:xfrm>
        </p:spPr>
        <p:txBody>
          <a:bodyPr anchor="b"/>
          <a:lstStyle/>
          <a:p>
            <a:r>
              <a:rPr lang="en-US" dirty="0" err="1"/>
              <a:t>Итоги</a:t>
            </a:r>
            <a:r>
              <a:rPr lang="en-US" dirty="0"/>
              <a:t> </a:t>
            </a:r>
            <a:r>
              <a:rPr lang="en-US" dirty="0" err="1"/>
              <a:t>исследования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19A35-B361-C9AE-FB5C-69F037E58707}"/>
              </a:ext>
            </a:extLst>
          </p:cNvPr>
          <p:cNvSpPr txBox="1"/>
          <p:nvPr/>
        </p:nvSpPr>
        <p:spPr>
          <a:xfrm>
            <a:off x="2044700" y="1430543"/>
            <a:ext cx="89306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Основные</a:t>
            </a:r>
            <a:r>
              <a:rPr lang="en-US" b="1" dirty="0"/>
              <a:t> </a:t>
            </a:r>
            <a:r>
              <a:rPr lang="en-US" b="1" dirty="0" err="1"/>
              <a:t>выводы</a:t>
            </a:r>
            <a:endParaRPr lang="en-US" b="1" dirty="0"/>
          </a:p>
          <a:p>
            <a:r>
              <a:rPr lang="en-US" dirty="0" err="1"/>
              <a:t>Подразделения</a:t>
            </a:r>
            <a:r>
              <a:rPr lang="en-US" dirty="0"/>
              <a:t> </a:t>
            </a:r>
            <a:r>
              <a:rPr lang="en-US" dirty="0" err="1"/>
              <a:t>компании</a:t>
            </a:r>
            <a:r>
              <a:rPr lang="en-US" dirty="0"/>
              <a:t>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различаются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ряду</a:t>
            </a:r>
            <a:r>
              <a:rPr lang="en-US" dirty="0"/>
              <a:t> </a:t>
            </a:r>
            <a:r>
              <a:rPr lang="en-US" dirty="0" err="1"/>
              <a:t>показателей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Свободное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уровнем</a:t>
            </a:r>
            <a:r>
              <a:rPr lang="en-US" dirty="0"/>
              <a:t> </a:t>
            </a:r>
            <a:r>
              <a:rPr lang="en-US" dirty="0" err="1"/>
              <a:t>выгорания</a:t>
            </a:r>
            <a:r>
              <a:rPr lang="en-US" dirty="0"/>
              <a:t> </a:t>
            </a:r>
            <a:r>
              <a:rPr lang="en-US" dirty="0" err="1"/>
              <a:t>сотрудников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интерпретации</a:t>
            </a:r>
            <a:r>
              <a:rPr lang="en-US" dirty="0"/>
              <a:t> </a:t>
            </a:r>
            <a:r>
              <a:rPr lang="en-US" dirty="0" err="1"/>
              <a:t>результатов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выборки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подразделений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Полученные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дальнейшего</a:t>
            </a:r>
            <a:r>
              <a:rPr lang="en-US" dirty="0"/>
              <a:t> </a:t>
            </a:r>
            <a:r>
              <a:rPr lang="en-US" dirty="0" err="1"/>
              <a:t>анализа</a:t>
            </a:r>
            <a:r>
              <a:rPr lang="en-US" dirty="0"/>
              <a:t> </a:t>
            </a:r>
            <a:r>
              <a:rPr lang="en-US" dirty="0" err="1"/>
              <a:t>корпоративной</a:t>
            </a:r>
            <a:r>
              <a:rPr lang="en-US" dirty="0"/>
              <a:t> </a:t>
            </a:r>
            <a:r>
              <a:rPr lang="en-US" dirty="0" err="1"/>
              <a:t>среды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C39C8-AF4B-FFC2-0F95-9C133D07E8BD}"/>
              </a:ext>
            </a:extLst>
          </p:cNvPr>
          <p:cNvSpPr txBox="1"/>
          <p:nvPr/>
        </p:nvSpPr>
        <p:spPr>
          <a:xfrm>
            <a:off x="3190240" y="486725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Исследование</a:t>
            </a:r>
            <a:r>
              <a:rPr lang="en-US" dirty="0"/>
              <a:t> </a:t>
            </a:r>
            <a:r>
              <a:rPr lang="en-US" dirty="0" err="1"/>
              <a:t>выполнено</a:t>
            </a:r>
            <a:r>
              <a:rPr lang="en-US" dirty="0"/>
              <a:t> с </a:t>
            </a:r>
            <a:r>
              <a:rPr lang="en-US" dirty="0" err="1"/>
              <a:t>использованием</a:t>
            </a:r>
            <a:r>
              <a:rPr lang="en-US" dirty="0"/>
              <a:t> Microsoft Excel, Pivot Tables, Dashboard и </a:t>
            </a:r>
            <a:r>
              <a:rPr lang="en-US" dirty="0" err="1"/>
              <a:t>методов</a:t>
            </a:r>
            <a:r>
              <a:rPr lang="en-US" dirty="0"/>
              <a:t> </a:t>
            </a:r>
            <a:r>
              <a:rPr lang="en-US" dirty="0" err="1"/>
              <a:t>описательной</a:t>
            </a:r>
            <a:r>
              <a:rPr lang="en-US" dirty="0"/>
              <a:t> </a:t>
            </a:r>
            <a:r>
              <a:rPr lang="en-US" dirty="0" err="1"/>
              <a:t>статистики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18</TotalTime>
  <Words>279</Words>
  <Application>Microsoft Office PowerPoint</Application>
  <PresentationFormat>Widescreen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Tenorite</vt:lpstr>
      <vt:lpstr>Custom</vt:lpstr>
      <vt:lpstr>Анализ результатов опроса сотрудников компании</vt:lpstr>
      <vt:lpstr>Описание датасета</vt:lpstr>
      <vt:lpstr>Цель исследования</vt:lpstr>
      <vt:lpstr>Основные результаты</vt:lpstr>
      <vt:lpstr> Проверка гипотезы</vt:lpstr>
      <vt:lpstr>Итоги исследования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scared rotted</dc:creator>
  <cp:lastModifiedBy>scared rotted</cp:lastModifiedBy>
  <cp:revision>1</cp:revision>
  <dcterms:created xsi:type="dcterms:W3CDTF">2026-07-11T14:56:06Z</dcterms:created>
  <dcterms:modified xsi:type="dcterms:W3CDTF">2026-07-11T15:14:24Z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